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60" r:id="rId4"/>
    <p:sldId id="263" r:id="rId5"/>
    <p:sldId id="261" r:id="rId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h2Qzzt0TK9WX1znVHwlflHWBOR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8"/>
  </p:normalViewPr>
  <p:slideViewPr>
    <p:cSldViewPr snapToGrid="0" snapToObjects="1">
      <p:cViewPr varScale="1">
        <p:scale>
          <a:sx n="105" d="100"/>
          <a:sy n="105" d="100"/>
        </p:scale>
        <p:origin x="18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4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0794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1397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ceramic.network/learn/feature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dirty="0"/>
              <a:t>Storyline – Participants (roles)</a:t>
            </a:r>
            <a:endParaRPr dirty="0"/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3059" y="5072949"/>
            <a:ext cx="1497882" cy="1543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 descr="Bildergebnis für clipart business peopl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56850" y="2264410"/>
            <a:ext cx="1658234" cy="165823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3313348" y="3902809"/>
            <a:ext cx="244017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Chainlink</a:t>
            </a:r>
            <a:r>
              <a:rPr lang="en-GB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GB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ProspectNow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0252" y="3720968"/>
            <a:ext cx="3076575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3155" y="1466537"/>
            <a:ext cx="1608137" cy="145891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/>
        </p:nvSpPr>
        <p:spPr>
          <a:xfrm>
            <a:off x="655530" y="2887412"/>
            <a:ext cx="2123662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– User search price</a:t>
            </a:r>
            <a:endParaRPr dirty="0"/>
          </a:p>
        </p:txBody>
      </p:sp>
      <p:pic>
        <p:nvPicPr>
          <p:cNvPr id="1026" name="Picture 2" descr="Free icon &amp;quot;Clipboard profile icon&amp;quot;">
            <a:extLst>
              <a:ext uri="{FF2B5EF4-FFF2-40B4-BE49-F238E27FC236}">
                <a16:creationId xmlns:a16="http://schemas.microsoft.com/office/drawing/2014/main" id="{1DE43011-D4FB-3844-B0FD-29167E23C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537" y="3423971"/>
            <a:ext cx="2439403" cy="243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94;p2">
            <a:extLst>
              <a:ext uri="{FF2B5EF4-FFF2-40B4-BE49-F238E27FC236}">
                <a16:creationId xmlns:a16="http://schemas.microsoft.com/office/drawing/2014/main" id="{2107110E-9A74-3943-97AF-F902C5916C08}"/>
              </a:ext>
            </a:extLst>
          </p:cNvPr>
          <p:cNvSpPr txBox="1"/>
          <p:nvPr/>
        </p:nvSpPr>
        <p:spPr>
          <a:xfrm>
            <a:off x="6422761" y="2141852"/>
            <a:ext cx="244017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Ceramic – save favourite real estate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600" dirty="0"/>
              <a:t>Underlying Concept of Smart Real Estate</a:t>
            </a:r>
            <a:endParaRPr sz="3600" dirty="0"/>
          </a:p>
        </p:txBody>
      </p:sp>
      <p:grpSp>
        <p:nvGrpSpPr>
          <p:cNvPr id="106" name="Google Shape;106;p3"/>
          <p:cNvGrpSpPr/>
          <p:nvPr/>
        </p:nvGrpSpPr>
        <p:grpSpPr>
          <a:xfrm>
            <a:off x="2153735" y="3795691"/>
            <a:ext cx="1103798" cy="685163"/>
            <a:chOff x="3735786" y="3596168"/>
            <a:chExt cx="1878805" cy="1273300"/>
          </a:xfrm>
        </p:grpSpPr>
        <p:sp>
          <p:nvSpPr>
            <p:cNvPr id="107" name="Google Shape;107;p3"/>
            <p:cNvSpPr/>
            <p:nvPr/>
          </p:nvSpPr>
          <p:spPr>
            <a:xfrm>
              <a:off x="3735786" y="4506963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4036976" y="4509468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4338033" y="4509468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4634618" y="4509468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4940584" y="4508903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5249041" y="4508227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3740019" y="4203624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4041209" y="4206129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4342266" y="4206129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4647995" y="4206129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4944817" y="4205564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5244130" y="4202838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3746380" y="3901437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4047570" y="3903942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348627" y="3903942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4654356" y="3903942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4951178" y="3903377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5254591" y="3902701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3749632" y="3600930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4050822" y="3599459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4351879" y="3599459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4651458" y="3599459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4953615" y="3607927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253743" y="3596168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AAC81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3"/>
          <p:cNvGrpSpPr/>
          <p:nvPr/>
        </p:nvGrpSpPr>
        <p:grpSpPr>
          <a:xfrm>
            <a:off x="5781587" y="3794343"/>
            <a:ext cx="1103798" cy="685163"/>
            <a:chOff x="3735786" y="3596168"/>
            <a:chExt cx="1878805" cy="1273300"/>
          </a:xfrm>
        </p:grpSpPr>
        <p:sp>
          <p:nvSpPr>
            <p:cNvPr id="132" name="Google Shape;132;p3"/>
            <p:cNvSpPr/>
            <p:nvPr/>
          </p:nvSpPr>
          <p:spPr>
            <a:xfrm>
              <a:off x="3735786" y="4506963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4036976" y="4509468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4338033" y="4509468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4634618" y="4509468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4940584" y="4508903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249041" y="4508227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3740019" y="4203624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4041209" y="4206129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4342266" y="4206129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4647995" y="4206129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4944817" y="4205564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244130" y="4202838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3746380" y="3901437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4047570" y="3903942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4348627" y="3903942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4654356" y="3903942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4951178" y="3903377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254591" y="3902701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3749632" y="3600930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4050822" y="3599459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4351879" y="3599459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4651458" y="3599459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4953615" y="3607927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253743" y="3596168"/>
              <a:ext cx="360000" cy="360000"/>
            </a:xfrm>
            <a:prstGeom prst="cube">
              <a:avLst>
                <a:gd name="adj" fmla="val 25000"/>
              </a:avLst>
            </a:prstGeom>
            <a:solidFill>
              <a:srgbClr val="3B439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3"/>
          <p:cNvSpPr txBox="1"/>
          <p:nvPr/>
        </p:nvSpPr>
        <p:spPr>
          <a:xfrm>
            <a:off x="5360751" y="3157039"/>
            <a:ext cx="1988582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B4395"/>
                </a:solidFill>
                <a:latin typeface="Calibri"/>
                <a:ea typeface="Calibri"/>
                <a:cs typeface="Calibri"/>
                <a:sym typeface="Calibri"/>
              </a:rPr>
              <a:t>Ceramic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B4395"/>
                </a:solidFill>
                <a:latin typeface="Calibri"/>
                <a:ea typeface="Calibri"/>
                <a:cs typeface="Calibri"/>
                <a:sym typeface="Calibri"/>
              </a:rPr>
              <a:t>(Save real estate)</a:t>
            </a:r>
            <a:endParaRPr sz="1500" dirty="0">
              <a:solidFill>
                <a:srgbClr val="3B439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4167112" y="3705516"/>
            <a:ext cx="818700" cy="839400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12700" cap="flat" cmpd="sng">
            <a:solidFill>
              <a:srgbClr val="AAC8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3962951" y="3933711"/>
            <a:ext cx="123870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3B4395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sz="1500" dirty="0">
              <a:solidFill>
                <a:srgbClr val="3B439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2016569" y="3739696"/>
            <a:ext cx="1368300" cy="7869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lg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1334378" y="3507184"/>
            <a:ext cx="952213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 sz="8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3"/>
          <p:cNvCxnSpPr/>
          <p:nvPr/>
        </p:nvCxnSpPr>
        <p:spPr>
          <a:xfrm>
            <a:off x="3555626" y="3984912"/>
            <a:ext cx="522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65" name="Google Shape;165;p3"/>
          <p:cNvSpPr txBox="1"/>
          <p:nvPr/>
        </p:nvSpPr>
        <p:spPr>
          <a:xfrm>
            <a:off x="2099705" y="3142950"/>
            <a:ext cx="123870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 err="1">
                <a:solidFill>
                  <a:srgbClr val="3B4395"/>
                </a:solidFill>
                <a:latin typeface="Calibri"/>
                <a:ea typeface="Calibri"/>
                <a:cs typeface="Calibri"/>
                <a:sym typeface="Calibri"/>
              </a:rPr>
              <a:t>SmartZip</a:t>
            </a:r>
            <a:r>
              <a:rPr lang="en-GB" sz="1500" dirty="0">
                <a:solidFill>
                  <a:srgbClr val="3B439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500" dirty="0">
                <a:solidFill>
                  <a:srgbClr val="3B439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500" dirty="0">
                <a:solidFill>
                  <a:srgbClr val="3B4395"/>
                </a:solidFill>
                <a:latin typeface="Calibri"/>
                <a:ea typeface="Calibri"/>
                <a:cs typeface="Calibri"/>
                <a:sym typeface="Calibri"/>
              </a:rPr>
              <a:t>(data feed)</a:t>
            </a:r>
            <a:endParaRPr sz="1500" dirty="0">
              <a:solidFill>
                <a:srgbClr val="3B439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3"/>
          <p:cNvCxnSpPr/>
          <p:nvPr/>
        </p:nvCxnSpPr>
        <p:spPr>
          <a:xfrm rot="10800000">
            <a:off x="5101787" y="3994386"/>
            <a:ext cx="522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68" name="Google Shape;168;p3"/>
          <p:cNvCxnSpPr/>
          <p:nvPr/>
        </p:nvCxnSpPr>
        <p:spPr>
          <a:xfrm rot="10800000">
            <a:off x="3534874" y="4289161"/>
            <a:ext cx="522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71" name="Google Shape;171;p3"/>
          <p:cNvCxnSpPr/>
          <p:nvPr/>
        </p:nvCxnSpPr>
        <p:spPr>
          <a:xfrm>
            <a:off x="5126104" y="4318916"/>
            <a:ext cx="522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73" name="Google Shape;173;p3"/>
          <p:cNvSpPr txBox="1"/>
          <p:nvPr/>
        </p:nvSpPr>
        <p:spPr>
          <a:xfrm>
            <a:off x="628650" y="1443841"/>
            <a:ext cx="7886700" cy="877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n-GB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user want to search a price from </a:t>
            </a:r>
            <a:r>
              <a:rPr lang="en-GB" sz="17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zipstate</a:t>
            </a:r>
            <a:r>
              <a:rPr lang="en-GB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giving the location of he/she want. Thanks to </a:t>
            </a:r>
            <a:r>
              <a:rPr lang="en-GB" sz="17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ProspectNow</a:t>
            </a:r>
            <a:r>
              <a:rPr lang="en-GB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users can enter </a:t>
            </a:r>
            <a:r>
              <a:rPr lang="en-GB" sz="17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zipstate</a:t>
            </a:r>
            <a:r>
              <a:rPr lang="en-GB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code and </a:t>
            </a:r>
            <a:r>
              <a:rPr lang="en-GB" sz="17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ProspectNow</a:t>
            </a:r>
            <a:r>
              <a:rPr lang="en-GB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returns a current price based on that </a:t>
            </a:r>
            <a:r>
              <a:rPr lang="en-GB" sz="17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zipstate</a:t>
            </a:r>
            <a:r>
              <a:rPr lang="en-GB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 </a:t>
            </a:r>
            <a:endParaRPr dirty="0"/>
          </a:p>
        </p:txBody>
      </p:sp>
      <p:sp>
        <p:nvSpPr>
          <p:cNvPr id="174" name="Google Shape;174;p3"/>
          <p:cNvSpPr txBox="1"/>
          <p:nvPr/>
        </p:nvSpPr>
        <p:spPr>
          <a:xfrm>
            <a:off x="628650" y="5224092"/>
            <a:ext cx="78867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n-GB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can store real estate information they find (including price, location, date) thanks to decentralized technologies for authentication and data storage (Ceramic).</a:t>
            </a:r>
            <a:endParaRPr dirty="0"/>
          </a:p>
        </p:txBody>
      </p:sp>
      <p:sp>
        <p:nvSpPr>
          <p:cNvPr id="175" name="Google Shape;175;p3"/>
          <p:cNvSpPr txBox="1"/>
          <p:nvPr/>
        </p:nvSpPr>
        <p:spPr>
          <a:xfrm>
            <a:off x="3555626" y="2769404"/>
            <a:ext cx="2106373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 err="1">
                <a:solidFill>
                  <a:srgbClr val="3B4395"/>
                </a:solidFill>
                <a:latin typeface="Calibri"/>
                <a:ea typeface="Calibri"/>
                <a:cs typeface="Calibri"/>
                <a:sym typeface="Calibri"/>
              </a:rPr>
              <a:t>Chainlink</a:t>
            </a:r>
            <a:endParaRPr sz="1500" dirty="0">
              <a:solidFill>
                <a:srgbClr val="3B439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3"/>
          <p:cNvCxnSpPr/>
          <p:nvPr/>
        </p:nvCxnSpPr>
        <p:spPr>
          <a:xfrm rot="10800000">
            <a:off x="4576462" y="3214094"/>
            <a:ext cx="0" cy="396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74" name="Google Shape;163;p3">
            <a:extLst>
              <a:ext uri="{FF2B5EF4-FFF2-40B4-BE49-F238E27FC236}">
                <a16:creationId xmlns:a16="http://schemas.microsoft.com/office/drawing/2014/main" id="{9397A7C3-716A-D14E-9D8D-E94E3DE0872E}"/>
              </a:ext>
            </a:extLst>
          </p:cNvPr>
          <p:cNvSpPr txBox="1"/>
          <p:nvPr/>
        </p:nvSpPr>
        <p:spPr>
          <a:xfrm>
            <a:off x="1307272" y="4539080"/>
            <a:ext cx="952213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street</a:t>
            </a:r>
            <a:endParaRPr sz="8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163;p3">
            <a:extLst>
              <a:ext uri="{FF2B5EF4-FFF2-40B4-BE49-F238E27FC236}">
                <a16:creationId xmlns:a16="http://schemas.microsoft.com/office/drawing/2014/main" id="{0AE6AE30-A827-314A-B50E-5BE2E829DDC1}"/>
              </a:ext>
            </a:extLst>
          </p:cNvPr>
          <p:cNvSpPr txBox="1"/>
          <p:nvPr/>
        </p:nvSpPr>
        <p:spPr>
          <a:xfrm>
            <a:off x="2949451" y="3452416"/>
            <a:ext cx="952213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city</a:t>
            </a:r>
            <a:endParaRPr sz="8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163;p3">
            <a:extLst>
              <a:ext uri="{FF2B5EF4-FFF2-40B4-BE49-F238E27FC236}">
                <a16:creationId xmlns:a16="http://schemas.microsoft.com/office/drawing/2014/main" id="{4BC4EC0E-B023-1E4F-826B-9923DA430D81}"/>
              </a:ext>
            </a:extLst>
          </p:cNvPr>
          <p:cNvSpPr txBox="1"/>
          <p:nvPr/>
        </p:nvSpPr>
        <p:spPr>
          <a:xfrm>
            <a:off x="2944998" y="4590167"/>
            <a:ext cx="952213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dirty="0" err="1"/>
              <a:t>ProspectNow</a:t>
            </a:r>
            <a:r>
              <a:rPr lang="en-GB" dirty="0"/>
              <a:t> feature</a:t>
            </a:r>
            <a:endParaRPr dirty="0"/>
          </a:p>
        </p:txBody>
      </p:sp>
      <p:sp>
        <p:nvSpPr>
          <p:cNvPr id="188" name="Google Shape;188;p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pattFill prst="pct5">
            <a:fgClr>
              <a:schemeClr val="lt1"/>
            </a:fgClr>
            <a:bgClr>
              <a:schemeClr val="bg1"/>
            </a:bgClr>
          </a:patt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dirty="0" err="1"/>
              <a:t>ProspectNow</a:t>
            </a:r>
            <a:r>
              <a:rPr lang="en-US" sz="2000" dirty="0"/>
              <a:t> offers detailed information for every property on record in the United States, including over 100 million residential properties and 42 million commercial properties across all 50 states.</a:t>
            </a:r>
          </a:p>
          <a:p>
            <a:pPr marL="114300" indent="0">
              <a:buNone/>
            </a:pPr>
            <a:r>
              <a:rPr lang="en-US" sz="1800" dirty="0"/>
              <a:t>Reference: https://</a:t>
            </a:r>
            <a:r>
              <a:rPr lang="en-US" sz="1800" dirty="0" err="1"/>
              <a:t>market.link</a:t>
            </a:r>
            <a:r>
              <a:rPr lang="en-US" sz="1800" dirty="0"/>
              <a:t>/data-providers/c8fc4b66-66a5-4e24-8d11-85d19553c03c/integrations</a:t>
            </a:r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dirty="0"/>
              <a:t>List real estate</a:t>
            </a:r>
            <a:endParaRPr dirty="0"/>
          </a:p>
        </p:txBody>
      </p:sp>
      <p:sp>
        <p:nvSpPr>
          <p:cNvPr id="188" name="Google Shape;188;p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pattFill prst="pct5">
            <a:fgClr>
              <a:schemeClr val="lt1"/>
            </a:fgClr>
            <a:bgClr>
              <a:schemeClr val="bg1"/>
            </a:bgClr>
          </a:patt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1800" dirty="0"/>
              <a:t>People can list their real estate with location, name, price.</a:t>
            </a:r>
          </a:p>
        </p:txBody>
      </p:sp>
    </p:spTree>
    <p:extLst>
      <p:ext uri="{BB962C8B-B14F-4D97-AF65-F5344CB8AC3E}">
        <p14:creationId xmlns:p14="http://schemas.microsoft.com/office/powerpoint/2010/main" val="3131879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dirty="0"/>
              <a:t>Ceramic feature (future feature)</a:t>
            </a:r>
            <a:endParaRPr dirty="0"/>
          </a:p>
        </p:txBody>
      </p:sp>
      <p:sp>
        <p:nvSpPr>
          <p:cNvPr id="188" name="Google Shape;188;p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pattFill prst="pct5">
            <a:fgClr>
              <a:schemeClr val="lt1"/>
            </a:fgClr>
            <a:bgClr>
              <a:schemeClr val="bg1"/>
            </a:bgClr>
          </a:patt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1800" dirty="0"/>
              <a:t>Ceramic is a decentralized, open source platform for creating, hosting, and sharing streams of data. With Ceramic's permissionless data streaming network, you can store streams of information and ever-changing files directly on the decentralized web – and share updates with anyone in the world. This page describes the most important features of the protocol.</a:t>
            </a:r>
          </a:p>
          <a:p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Reference: </a:t>
            </a:r>
            <a:r>
              <a:rPr lang="en-US" sz="1800" dirty="0">
                <a:hlinkClick r:id="rId3"/>
              </a:rPr>
              <a:t>https://developers.ceramic.network/learn/features/</a:t>
            </a:r>
            <a:endParaRPr lang="en-US" sz="1800" dirty="0"/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*This one not finish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197979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258</Words>
  <Application>Microsoft Macintosh PowerPoint</Application>
  <PresentationFormat>On-screen Show (4:3)</PresentationFormat>
  <Paragraphs>27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Storyline – Participants (roles)</vt:lpstr>
      <vt:lpstr>Underlying Concept of Smart Real Estate</vt:lpstr>
      <vt:lpstr>ProspectNow feature</vt:lpstr>
      <vt:lpstr>List real estate</vt:lpstr>
      <vt:lpstr>Ceramic feature (future feature)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Storyline – Participants (roles)</dc:title>
  <dc:creator>Vasileios Panagiotidis</dc:creator>
  <cp:lastModifiedBy>Anh. Nguyễn Thế (18)</cp:lastModifiedBy>
  <cp:revision>7</cp:revision>
  <dcterms:created xsi:type="dcterms:W3CDTF">2021-11-09T15:26:07Z</dcterms:created>
  <dcterms:modified xsi:type="dcterms:W3CDTF">2021-11-29T02:45:25Z</dcterms:modified>
</cp:coreProperties>
</file>