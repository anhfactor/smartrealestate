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6"/>
  </p:notesMasterIdLst>
  <p:sldIdLst>
    <p:sldId id="257" r:id="rId2"/>
    <p:sldId id="258" r:id="rId3"/>
    <p:sldId id="260" r:id="rId4"/>
    <p:sldId id="261" r:id="rId5"/>
  </p:sldIdLst>
  <p:sldSz cx="9144000" cy="6858000" type="screen4x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1" roundtripDataSignature="AMtx7mh2Qzzt0TK9WX1znVHwlflHWBORl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32"/>
  </p:normalViewPr>
  <p:slideViewPr>
    <p:cSldViewPr snapToGrid="0" snapToObjects="1">
      <p:cViewPr varScale="1">
        <p:scale>
          <a:sx n="106" d="100"/>
          <a:sy n="106" d="100"/>
        </p:scale>
        <p:origin x="6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4" Type="http://schemas.openxmlformats.org/officeDocument/2006/relationships/slide" Target="slides/slide3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513974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8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8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" name="Google Shape;14;p8"/>
          <p:cNvSpPr txBox="1">
            <a:spLocks noGrp="1"/>
          </p:cNvSpPr>
          <p:nvPr>
            <p:ph type="dt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8"/>
          <p:cNvSpPr txBox="1">
            <a:spLocks noGrp="1"/>
          </p:cNvSpPr>
          <p:nvPr>
            <p:ph type="ft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8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9"/>
          <p:cNvSpPr txBox="1"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9"/>
          <p:cNvSpPr txBox="1"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0" name="Google Shape;20;p9"/>
          <p:cNvSpPr txBox="1">
            <a:spLocks noGrp="1"/>
          </p:cNvSpPr>
          <p:nvPr>
            <p:ph type="dt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9"/>
          <p:cNvSpPr txBox="1">
            <a:spLocks noGrp="1"/>
          </p:cNvSpPr>
          <p:nvPr>
            <p:ph type="ft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9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0"/>
          <p:cNvSpPr txBox="1"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0"/>
          <p:cNvSpPr txBox="1"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10"/>
          <p:cNvSpPr txBox="1">
            <a:spLocks noGrp="1"/>
          </p:cNvSpPr>
          <p:nvPr>
            <p:ph type="dt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0"/>
          <p:cNvSpPr txBox="1">
            <a:spLocks noGrp="1"/>
          </p:cNvSpPr>
          <p:nvPr>
            <p:ph type="ft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0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1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1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38862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11"/>
          <p:cNvSpPr txBox="1">
            <a:spLocks noGrp="1"/>
          </p:cNvSpPr>
          <p:nvPr>
            <p:ph type="body" idx="2"/>
          </p:nvPr>
        </p:nvSpPr>
        <p:spPr>
          <a:xfrm>
            <a:off x="4629150" y="1825625"/>
            <a:ext cx="38862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11"/>
          <p:cNvSpPr txBox="1">
            <a:spLocks noGrp="1"/>
          </p:cNvSpPr>
          <p:nvPr>
            <p:ph type="dt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1"/>
          <p:cNvSpPr txBox="1">
            <a:spLocks noGrp="1"/>
          </p:cNvSpPr>
          <p:nvPr>
            <p:ph type="ft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1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2"/>
          <p:cNvSpPr txBox="1"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2"/>
          <p:cNvSpPr txBox="1"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12"/>
          <p:cNvSpPr txBox="1">
            <a:spLocks noGrp="1"/>
          </p:cNvSpPr>
          <p:nvPr>
            <p:ph type="body" idx="2"/>
          </p:nvPr>
        </p:nvSpPr>
        <p:spPr>
          <a:xfrm>
            <a:off x="629842" y="2505075"/>
            <a:ext cx="3868340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12"/>
          <p:cNvSpPr txBox="1">
            <a:spLocks noGrp="1"/>
          </p:cNvSpPr>
          <p:nvPr>
            <p:ph type="body" idx="3"/>
          </p:nvPr>
        </p:nvSpPr>
        <p:spPr>
          <a:xfrm>
            <a:off x="4629150" y="1681163"/>
            <a:ext cx="3887391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2"/>
          <p:cNvSpPr txBox="1">
            <a:spLocks noGrp="1"/>
          </p:cNvSpPr>
          <p:nvPr>
            <p:ph type="body" idx="4"/>
          </p:nvPr>
        </p:nvSpPr>
        <p:spPr>
          <a:xfrm>
            <a:off x="4629150" y="2505075"/>
            <a:ext cx="3887391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2"/>
          <p:cNvSpPr txBox="1">
            <a:spLocks noGrp="1"/>
          </p:cNvSpPr>
          <p:nvPr>
            <p:ph type="dt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2"/>
          <p:cNvSpPr txBox="1">
            <a:spLocks noGrp="1"/>
          </p:cNvSpPr>
          <p:nvPr>
            <p:ph type="ft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2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3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3"/>
          <p:cNvSpPr txBox="1">
            <a:spLocks noGrp="1"/>
          </p:cNvSpPr>
          <p:nvPr>
            <p:ph type="dt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3"/>
          <p:cNvSpPr txBox="1">
            <a:spLocks noGrp="1"/>
          </p:cNvSpPr>
          <p:nvPr>
            <p:ph type="ft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3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4"/>
          <p:cNvSpPr txBox="1">
            <a:spLocks noGrp="1"/>
          </p:cNvSpPr>
          <p:nvPr>
            <p:ph type="dt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4"/>
          <p:cNvSpPr txBox="1">
            <a:spLocks noGrp="1"/>
          </p:cNvSpPr>
          <p:nvPr>
            <p:ph type="ft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4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5"/>
          <p:cNvSpPr txBox="1"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5"/>
          <p:cNvSpPr txBox="1">
            <a:spLocks noGrp="1"/>
          </p:cNvSpPr>
          <p:nvPr>
            <p:ph type="body"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15"/>
          <p:cNvSpPr txBox="1">
            <a:spLocks noGrp="1"/>
          </p:cNvSpPr>
          <p:nvPr>
            <p:ph type="body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15"/>
          <p:cNvSpPr txBox="1">
            <a:spLocks noGrp="1"/>
          </p:cNvSpPr>
          <p:nvPr>
            <p:ph type="dt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5"/>
          <p:cNvSpPr txBox="1">
            <a:spLocks noGrp="1"/>
          </p:cNvSpPr>
          <p:nvPr>
            <p:ph type="ft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5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6"/>
          <p:cNvSpPr>
            <a:spLocks noGrp="1"/>
          </p:cNvSpPr>
          <p:nvPr>
            <p:ph type="pic" idx="2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6"/>
          <p:cNvSpPr txBox="1">
            <a:spLocks noGrp="1"/>
          </p:cNvSpPr>
          <p:nvPr>
            <p:ph type="body" idx="1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16"/>
          <p:cNvSpPr txBox="1">
            <a:spLocks noGrp="1"/>
          </p:cNvSpPr>
          <p:nvPr>
            <p:ph type="dt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6"/>
          <p:cNvSpPr txBox="1">
            <a:spLocks noGrp="1"/>
          </p:cNvSpPr>
          <p:nvPr>
            <p:ph type="ft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6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7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7"/>
          <p:cNvSpPr txBox="1">
            <a:spLocks noGrp="1"/>
          </p:cNvSpPr>
          <p:nvPr>
            <p:ph type="body" idx="1"/>
          </p:nvPr>
        </p:nvSpPr>
        <p:spPr>
          <a:xfrm rot="5400000">
            <a:off x="2396331" y="57944"/>
            <a:ext cx="4351338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dt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ft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8"/>
          <p:cNvSpPr txBox="1">
            <a:spLocks noGrp="1"/>
          </p:cNvSpPr>
          <p:nvPr>
            <p:ph type="title"/>
          </p:nvPr>
        </p:nvSpPr>
        <p:spPr>
          <a:xfrm rot="5400000">
            <a:off x="4623593" y="2285206"/>
            <a:ext cx="5811838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8"/>
          <p:cNvSpPr txBox="1">
            <a:spLocks noGrp="1"/>
          </p:cNvSpPr>
          <p:nvPr>
            <p:ph type="body" idx="1"/>
          </p:nvPr>
        </p:nvSpPr>
        <p:spPr>
          <a:xfrm rot="5400000">
            <a:off x="623093" y="370681"/>
            <a:ext cx="5811838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8"/>
          <p:cNvSpPr txBox="1">
            <a:spLocks noGrp="1"/>
          </p:cNvSpPr>
          <p:nvPr>
            <p:ph type="dt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8"/>
          <p:cNvSpPr txBox="1">
            <a:spLocks noGrp="1"/>
          </p:cNvSpPr>
          <p:nvPr>
            <p:ph type="ft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8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7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7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7"/>
          <p:cNvSpPr txBox="1">
            <a:spLocks noGrp="1"/>
          </p:cNvSpPr>
          <p:nvPr>
            <p:ph type="dt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7"/>
          <p:cNvSpPr txBox="1">
            <a:spLocks noGrp="1"/>
          </p:cNvSpPr>
          <p:nvPr>
            <p:ph type="ft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7"/>
          <p:cNvSpPr txBox="1">
            <a:spLocks noGrp="1"/>
          </p:cNvSpPr>
          <p:nvPr>
            <p:ph type="sldNum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GB" dirty="0"/>
              <a:t>Storyline – Participants (roles)</a:t>
            </a:r>
            <a:endParaRPr dirty="0"/>
          </a:p>
        </p:txBody>
      </p:sp>
      <p:pic>
        <p:nvPicPr>
          <p:cNvPr id="92" name="Google Shape;92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23059" y="5072949"/>
            <a:ext cx="1497882" cy="1543619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2" descr="Bildergebnis für clipart business peopl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756850" y="2264410"/>
            <a:ext cx="1658234" cy="1658235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2"/>
          <p:cNvSpPr txBox="1"/>
          <p:nvPr/>
        </p:nvSpPr>
        <p:spPr>
          <a:xfrm>
            <a:off x="3313348" y="3902809"/>
            <a:ext cx="2440179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Chainlink</a:t>
            </a:r>
            <a:r>
              <a:rPr lang="en-GB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Smart zip</a:t>
            </a:r>
            <a:endParaRPr sz="2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6" name="Google Shape;96;p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30252" y="3720968"/>
            <a:ext cx="3076575" cy="2895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2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83155" y="1466537"/>
            <a:ext cx="1608137" cy="1458913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2"/>
          <p:cNvSpPr txBox="1"/>
          <p:nvPr/>
        </p:nvSpPr>
        <p:spPr>
          <a:xfrm>
            <a:off x="655530" y="2887412"/>
            <a:ext cx="2123662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/>
            <a:r>
              <a:rPr lang="en-GB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ALICE – User find real estate</a:t>
            </a:r>
            <a:endParaRPr dirty="0"/>
          </a:p>
        </p:txBody>
      </p:sp>
      <p:pic>
        <p:nvPicPr>
          <p:cNvPr id="1026" name="Picture 2" descr="Free icon &amp;quot;Clipboard profile icon&amp;quot;">
            <a:extLst>
              <a:ext uri="{FF2B5EF4-FFF2-40B4-BE49-F238E27FC236}">
                <a16:creationId xmlns:a16="http://schemas.microsoft.com/office/drawing/2014/main" id="{1DE43011-D4FB-3844-B0FD-29167E23CB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3537" y="3423971"/>
            <a:ext cx="2439403" cy="24394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Google Shape;94;p2">
            <a:extLst>
              <a:ext uri="{FF2B5EF4-FFF2-40B4-BE49-F238E27FC236}">
                <a16:creationId xmlns:a16="http://schemas.microsoft.com/office/drawing/2014/main" id="{2107110E-9A74-3943-97AF-F902C5916C08}"/>
              </a:ext>
            </a:extLst>
          </p:cNvPr>
          <p:cNvSpPr txBox="1"/>
          <p:nvPr/>
        </p:nvSpPr>
        <p:spPr>
          <a:xfrm>
            <a:off x="6422761" y="2141852"/>
            <a:ext cx="2440179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Ceramic – save favourite real estate</a:t>
            </a:r>
            <a:endParaRPr sz="2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GB" sz="3600" dirty="0"/>
              <a:t>Underlying Concept of Smart Real Estate</a:t>
            </a:r>
            <a:endParaRPr sz="3600" dirty="0"/>
          </a:p>
        </p:txBody>
      </p:sp>
      <p:grpSp>
        <p:nvGrpSpPr>
          <p:cNvPr id="106" name="Google Shape;106;p3"/>
          <p:cNvGrpSpPr/>
          <p:nvPr/>
        </p:nvGrpSpPr>
        <p:grpSpPr>
          <a:xfrm>
            <a:off x="2153735" y="3795691"/>
            <a:ext cx="1103798" cy="685163"/>
            <a:chOff x="3735786" y="3596168"/>
            <a:chExt cx="1878805" cy="1273300"/>
          </a:xfrm>
        </p:grpSpPr>
        <p:sp>
          <p:nvSpPr>
            <p:cNvPr id="107" name="Google Shape;107;p3"/>
            <p:cNvSpPr/>
            <p:nvPr/>
          </p:nvSpPr>
          <p:spPr>
            <a:xfrm>
              <a:off x="3735786" y="4506963"/>
              <a:ext cx="360000" cy="360000"/>
            </a:xfrm>
            <a:prstGeom prst="cube">
              <a:avLst>
                <a:gd name="adj" fmla="val 25000"/>
              </a:avLst>
            </a:prstGeom>
            <a:solidFill>
              <a:srgbClr val="AAC811"/>
            </a:solidFill>
            <a:ln w="12700" cap="flat" cmpd="sng">
              <a:solidFill>
                <a:srgbClr val="31538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" name="Google Shape;108;p3"/>
            <p:cNvSpPr/>
            <p:nvPr/>
          </p:nvSpPr>
          <p:spPr>
            <a:xfrm>
              <a:off x="4036976" y="4509468"/>
              <a:ext cx="360000" cy="360000"/>
            </a:xfrm>
            <a:prstGeom prst="cube">
              <a:avLst>
                <a:gd name="adj" fmla="val 25000"/>
              </a:avLst>
            </a:prstGeom>
            <a:solidFill>
              <a:srgbClr val="AAC811"/>
            </a:solidFill>
            <a:ln w="12700" cap="flat" cmpd="sng">
              <a:solidFill>
                <a:srgbClr val="31538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9" name="Google Shape;109;p3"/>
            <p:cNvSpPr/>
            <p:nvPr/>
          </p:nvSpPr>
          <p:spPr>
            <a:xfrm>
              <a:off x="4338033" y="4509468"/>
              <a:ext cx="360000" cy="360000"/>
            </a:xfrm>
            <a:prstGeom prst="cube">
              <a:avLst>
                <a:gd name="adj" fmla="val 25000"/>
              </a:avLst>
            </a:prstGeom>
            <a:solidFill>
              <a:srgbClr val="AAC811"/>
            </a:solidFill>
            <a:ln w="12700" cap="flat" cmpd="sng">
              <a:solidFill>
                <a:srgbClr val="31538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0" name="Google Shape;110;p3"/>
            <p:cNvSpPr/>
            <p:nvPr/>
          </p:nvSpPr>
          <p:spPr>
            <a:xfrm>
              <a:off x="4634618" y="4509468"/>
              <a:ext cx="360000" cy="360000"/>
            </a:xfrm>
            <a:prstGeom prst="cube">
              <a:avLst>
                <a:gd name="adj" fmla="val 25000"/>
              </a:avLst>
            </a:prstGeom>
            <a:solidFill>
              <a:srgbClr val="AAC811"/>
            </a:solidFill>
            <a:ln w="12700" cap="flat" cmpd="sng">
              <a:solidFill>
                <a:srgbClr val="31538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" name="Google Shape;111;p3"/>
            <p:cNvSpPr/>
            <p:nvPr/>
          </p:nvSpPr>
          <p:spPr>
            <a:xfrm>
              <a:off x="4940584" y="4508903"/>
              <a:ext cx="360000" cy="360000"/>
            </a:xfrm>
            <a:prstGeom prst="cube">
              <a:avLst>
                <a:gd name="adj" fmla="val 25000"/>
              </a:avLst>
            </a:prstGeom>
            <a:solidFill>
              <a:srgbClr val="AAC811"/>
            </a:solidFill>
            <a:ln w="12700" cap="flat" cmpd="sng">
              <a:solidFill>
                <a:srgbClr val="31538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2" name="Google Shape;112;p3"/>
            <p:cNvSpPr/>
            <p:nvPr/>
          </p:nvSpPr>
          <p:spPr>
            <a:xfrm>
              <a:off x="5249041" y="4508227"/>
              <a:ext cx="360000" cy="360000"/>
            </a:xfrm>
            <a:prstGeom prst="cube">
              <a:avLst>
                <a:gd name="adj" fmla="val 25000"/>
              </a:avLst>
            </a:prstGeom>
            <a:solidFill>
              <a:srgbClr val="AAC811"/>
            </a:solidFill>
            <a:ln w="12700" cap="flat" cmpd="sng">
              <a:solidFill>
                <a:srgbClr val="31538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" name="Google Shape;113;p3"/>
            <p:cNvSpPr/>
            <p:nvPr/>
          </p:nvSpPr>
          <p:spPr>
            <a:xfrm>
              <a:off x="3740019" y="4203624"/>
              <a:ext cx="360000" cy="360000"/>
            </a:xfrm>
            <a:prstGeom prst="cube">
              <a:avLst>
                <a:gd name="adj" fmla="val 25000"/>
              </a:avLst>
            </a:prstGeom>
            <a:solidFill>
              <a:srgbClr val="AAC811"/>
            </a:solidFill>
            <a:ln w="12700" cap="flat" cmpd="sng">
              <a:solidFill>
                <a:srgbClr val="31538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4" name="Google Shape;114;p3"/>
            <p:cNvSpPr/>
            <p:nvPr/>
          </p:nvSpPr>
          <p:spPr>
            <a:xfrm>
              <a:off x="4041209" y="4206129"/>
              <a:ext cx="360000" cy="360000"/>
            </a:xfrm>
            <a:prstGeom prst="cube">
              <a:avLst>
                <a:gd name="adj" fmla="val 25000"/>
              </a:avLst>
            </a:prstGeom>
            <a:solidFill>
              <a:srgbClr val="AAC811"/>
            </a:solidFill>
            <a:ln w="12700" cap="flat" cmpd="sng">
              <a:solidFill>
                <a:srgbClr val="31538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" name="Google Shape;115;p3"/>
            <p:cNvSpPr/>
            <p:nvPr/>
          </p:nvSpPr>
          <p:spPr>
            <a:xfrm>
              <a:off x="4342266" y="4206129"/>
              <a:ext cx="360000" cy="360000"/>
            </a:xfrm>
            <a:prstGeom prst="cube">
              <a:avLst>
                <a:gd name="adj" fmla="val 25000"/>
              </a:avLst>
            </a:prstGeom>
            <a:solidFill>
              <a:srgbClr val="AAC811"/>
            </a:solidFill>
            <a:ln w="12700" cap="flat" cmpd="sng">
              <a:solidFill>
                <a:srgbClr val="31538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" name="Google Shape;116;p3"/>
            <p:cNvSpPr/>
            <p:nvPr/>
          </p:nvSpPr>
          <p:spPr>
            <a:xfrm>
              <a:off x="4647995" y="4206129"/>
              <a:ext cx="360000" cy="360000"/>
            </a:xfrm>
            <a:prstGeom prst="cube">
              <a:avLst>
                <a:gd name="adj" fmla="val 25000"/>
              </a:avLst>
            </a:prstGeom>
            <a:solidFill>
              <a:srgbClr val="AAC811"/>
            </a:solidFill>
            <a:ln w="12700" cap="flat" cmpd="sng">
              <a:solidFill>
                <a:srgbClr val="31538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" name="Google Shape;117;p3"/>
            <p:cNvSpPr/>
            <p:nvPr/>
          </p:nvSpPr>
          <p:spPr>
            <a:xfrm>
              <a:off x="4944817" y="4205564"/>
              <a:ext cx="360000" cy="360000"/>
            </a:xfrm>
            <a:prstGeom prst="cube">
              <a:avLst>
                <a:gd name="adj" fmla="val 25000"/>
              </a:avLst>
            </a:prstGeom>
            <a:solidFill>
              <a:srgbClr val="AAC811"/>
            </a:solidFill>
            <a:ln w="12700" cap="flat" cmpd="sng">
              <a:solidFill>
                <a:srgbClr val="31538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8" name="Google Shape;118;p3"/>
            <p:cNvSpPr/>
            <p:nvPr/>
          </p:nvSpPr>
          <p:spPr>
            <a:xfrm>
              <a:off x="5244130" y="4202838"/>
              <a:ext cx="360000" cy="360000"/>
            </a:xfrm>
            <a:prstGeom prst="cube">
              <a:avLst>
                <a:gd name="adj" fmla="val 25000"/>
              </a:avLst>
            </a:prstGeom>
            <a:solidFill>
              <a:srgbClr val="AAC811"/>
            </a:solidFill>
            <a:ln w="12700" cap="flat" cmpd="sng">
              <a:solidFill>
                <a:srgbClr val="31538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9" name="Google Shape;119;p3"/>
            <p:cNvSpPr/>
            <p:nvPr/>
          </p:nvSpPr>
          <p:spPr>
            <a:xfrm>
              <a:off x="3746380" y="3901437"/>
              <a:ext cx="360000" cy="360000"/>
            </a:xfrm>
            <a:prstGeom prst="cube">
              <a:avLst>
                <a:gd name="adj" fmla="val 25000"/>
              </a:avLst>
            </a:prstGeom>
            <a:solidFill>
              <a:srgbClr val="AAC811"/>
            </a:solidFill>
            <a:ln w="12700" cap="flat" cmpd="sng">
              <a:solidFill>
                <a:srgbClr val="31538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0" name="Google Shape;120;p3"/>
            <p:cNvSpPr/>
            <p:nvPr/>
          </p:nvSpPr>
          <p:spPr>
            <a:xfrm>
              <a:off x="4047570" y="3903942"/>
              <a:ext cx="360000" cy="360000"/>
            </a:xfrm>
            <a:prstGeom prst="cube">
              <a:avLst>
                <a:gd name="adj" fmla="val 25000"/>
              </a:avLst>
            </a:prstGeom>
            <a:solidFill>
              <a:srgbClr val="AAC811"/>
            </a:solidFill>
            <a:ln w="12700" cap="flat" cmpd="sng">
              <a:solidFill>
                <a:srgbClr val="31538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1" name="Google Shape;121;p3"/>
            <p:cNvSpPr/>
            <p:nvPr/>
          </p:nvSpPr>
          <p:spPr>
            <a:xfrm>
              <a:off x="4348627" y="3903942"/>
              <a:ext cx="360000" cy="360000"/>
            </a:xfrm>
            <a:prstGeom prst="cube">
              <a:avLst>
                <a:gd name="adj" fmla="val 25000"/>
              </a:avLst>
            </a:prstGeom>
            <a:solidFill>
              <a:srgbClr val="AAC811"/>
            </a:solidFill>
            <a:ln w="12700" cap="flat" cmpd="sng">
              <a:solidFill>
                <a:srgbClr val="31538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" name="Google Shape;122;p3"/>
            <p:cNvSpPr/>
            <p:nvPr/>
          </p:nvSpPr>
          <p:spPr>
            <a:xfrm>
              <a:off x="4654356" y="3903942"/>
              <a:ext cx="360000" cy="360000"/>
            </a:xfrm>
            <a:prstGeom prst="cube">
              <a:avLst>
                <a:gd name="adj" fmla="val 25000"/>
              </a:avLst>
            </a:prstGeom>
            <a:solidFill>
              <a:srgbClr val="AAC811"/>
            </a:solidFill>
            <a:ln w="12700" cap="flat" cmpd="sng">
              <a:solidFill>
                <a:srgbClr val="31538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" name="Google Shape;123;p3"/>
            <p:cNvSpPr/>
            <p:nvPr/>
          </p:nvSpPr>
          <p:spPr>
            <a:xfrm>
              <a:off x="4951178" y="3903377"/>
              <a:ext cx="360000" cy="360000"/>
            </a:xfrm>
            <a:prstGeom prst="cube">
              <a:avLst>
                <a:gd name="adj" fmla="val 25000"/>
              </a:avLst>
            </a:prstGeom>
            <a:solidFill>
              <a:srgbClr val="AAC811"/>
            </a:solidFill>
            <a:ln w="12700" cap="flat" cmpd="sng">
              <a:solidFill>
                <a:srgbClr val="31538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4" name="Google Shape;124;p3"/>
            <p:cNvSpPr/>
            <p:nvPr/>
          </p:nvSpPr>
          <p:spPr>
            <a:xfrm>
              <a:off x="5254591" y="3902701"/>
              <a:ext cx="360000" cy="360000"/>
            </a:xfrm>
            <a:prstGeom prst="cube">
              <a:avLst>
                <a:gd name="adj" fmla="val 25000"/>
              </a:avLst>
            </a:prstGeom>
            <a:solidFill>
              <a:srgbClr val="AAC811"/>
            </a:solidFill>
            <a:ln w="12700" cap="flat" cmpd="sng">
              <a:solidFill>
                <a:srgbClr val="31538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5" name="Google Shape;125;p3"/>
            <p:cNvSpPr/>
            <p:nvPr/>
          </p:nvSpPr>
          <p:spPr>
            <a:xfrm>
              <a:off x="3749632" y="3600930"/>
              <a:ext cx="360000" cy="360000"/>
            </a:xfrm>
            <a:prstGeom prst="cube">
              <a:avLst>
                <a:gd name="adj" fmla="val 25000"/>
              </a:avLst>
            </a:prstGeom>
            <a:solidFill>
              <a:srgbClr val="AAC811"/>
            </a:solidFill>
            <a:ln w="12700" cap="flat" cmpd="sng">
              <a:solidFill>
                <a:srgbClr val="31538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6" name="Google Shape;126;p3"/>
            <p:cNvSpPr/>
            <p:nvPr/>
          </p:nvSpPr>
          <p:spPr>
            <a:xfrm>
              <a:off x="4050822" y="3599459"/>
              <a:ext cx="360000" cy="360000"/>
            </a:xfrm>
            <a:prstGeom prst="cube">
              <a:avLst>
                <a:gd name="adj" fmla="val 25000"/>
              </a:avLst>
            </a:prstGeom>
            <a:solidFill>
              <a:srgbClr val="AAC811"/>
            </a:solidFill>
            <a:ln w="12700" cap="flat" cmpd="sng">
              <a:solidFill>
                <a:srgbClr val="31538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7" name="Google Shape;127;p3"/>
            <p:cNvSpPr/>
            <p:nvPr/>
          </p:nvSpPr>
          <p:spPr>
            <a:xfrm>
              <a:off x="4351879" y="3599459"/>
              <a:ext cx="360000" cy="360000"/>
            </a:xfrm>
            <a:prstGeom prst="cube">
              <a:avLst>
                <a:gd name="adj" fmla="val 25000"/>
              </a:avLst>
            </a:prstGeom>
            <a:solidFill>
              <a:srgbClr val="AAC811"/>
            </a:solidFill>
            <a:ln w="12700" cap="flat" cmpd="sng">
              <a:solidFill>
                <a:srgbClr val="31538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8" name="Google Shape;128;p3"/>
            <p:cNvSpPr/>
            <p:nvPr/>
          </p:nvSpPr>
          <p:spPr>
            <a:xfrm>
              <a:off x="4651458" y="3599459"/>
              <a:ext cx="360000" cy="360000"/>
            </a:xfrm>
            <a:prstGeom prst="cube">
              <a:avLst>
                <a:gd name="adj" fmla="val 25000"/>
              </a:avLst>
            </a:prstGeom>
            <a:solidFill>
              <a:srgbClr val="AAC811"/>
            </a:solidFill>
            <a:ln w="12700" cap="flat" cmpd="sng">
              <a:solidFill>
                <a:srgbClr val="31538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9" name="Google Shape;129;p3"/>
            <p:cNvSpPr/>
            <p:nvPr/>
          </p:nvSpPr>
          <p:spPr>
            <a:xfrm>
              <a:off x="4953615" y="3607927"/>
              <a:ext cx="360000" cy="360000"/>
            </a:xfrm>
            <a:prstGeom prst="cube">
              <a:avLst>
                <a:gd name="adj" fmla="val 25000"/>
              </a:avLst>
            </a:prstGeom>
            <a:solidFill>
              <a:srgbClr val="AAC811"/>
            </a:solidFill>
            <a:ln w="12700" cap="flat" cmpd="sng">
              <a:solidFill>
                <a:srgbClr val="31538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0" name="Google Shape;130;p3"/>
            <p:cNvSpPr/>
            <p:nvPr/>
          </p:nvSpPr>
          <p:spPr>
            <a:xfrm>
              <a:off x="5253743" y="3596168"/>
              <a:ext cx="360000" cy="360000"/>
            </a:xfrm>
            <a:prstGeom prst="cube">
              <a:avLst>
                <a:gd name="adj" fmla="val 25000"/>
              </a:avLst>
            </a:prstGeom>
            <a:solidFill>
              <a:srgbClr val="AAC811"/>
            </a:solidFill>
            <a:ln w="12700" cap="flat" cmpd="sng">
              <a:solidFill>
                <a:srgbClr val="31538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1" name="Google Shape;131;p3"/>
          <p:cNvGrpSpPr/>
          <p:nvPr/>
        </p:nvGrpSpPr>
        <p:grpSpPr>
          <a:xfrm>
            <a:off x="5781587" y="3794343"/>
            <a:ext cx="1103798" cy="685163"/>
            <a:chOff x="3735786" y="3596168"/>
            <a:chExt cx="1878805" cy="1273300"/>
          </a:xfrm>
        </p:grpSpPr>
        <p:sp>
          <p:nvSpPr>
            <p:cNvPr id="132" name="Google Shape;132;p3"/>
            <p:cNvSpPr/>
            <p:nvPr/>
          </p:nvSpPr>
          <p:spPr>
            <a:xfrm>
              <a:off x="3735786" y="4506963"/>
              <a:ext cx="360000" cy="360000"/>
            </a:xfrm>
            <a:prstGeom prst="cube">
              <a:avLst>
                <a:gd name="adj" fmla="val 25000"/>
              </a:avLst>
            </a:prstGeom>
            <a:solidFill>
              <a:srgbClr val="3B4395"/>
            </a:solidFill>
            <a:ln w="12700" cap="flat" cmpd="sng">
              <a:solidFill>
                <a:srgbClr val="31538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3" name="Google Shape;133;p3"/>
            <p:cNvSpPr/>
            <p:nvPr/>
          </p:nvSpPr>
          <p:spPr>
            <a:xfrm>
              <a:off x="4036976" y="4509468"/>
              <a:ext cx="360000" cy="360000"/>
            </a:xfrm>
            <a:prstGeom prst="cube">
              <a:avLst>
                <a:gd name="adj" fmla="val 25000"/>
              </a:avLst>
            </a:prstGeom>
            <a:solidFill>
              <a:srgbClr val="3B4395"/>
            </a:solidFill>
            <a:ln w="12700" cap="flat" cmpd="sng">
              <a:solidFill>
                <a:srgbClr val="31538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4" name="Google Shape;134;p3"/>
            <p:cNvSpPr/>
            <p:nvPr/>
          </p:nvSpPr>
          <p:spPr>
            <a:xfrm>
              <a:off x="4338033" y="4509468"/>
              <a:ext cx="360000" cy="360000"/>
            </a:xfrm>
            <a:prstGeom prst="cube">
              <a:avLst>
                <a:gd name="adj" fmla="val 25000"/>
              </a:avLst>
            </a:prstGeom>
            <a:solidFill>
              <a:srgbClr val="3B4395"/>
            </a:solidFill>
            <a:ln w="12700" cap="flat" cmpd="sng">
              <a:solidFill>
                <a:srgbClr val="31538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5" name="Google Shape;135;p3"/>
            <p:cNvSpPr/>
            <p:nvPr/>
          </p:nvSpPr>
          <p:spPr>
            <a:xfrm>
              <a:off x="4634618" y="4509468"/>
              <a:ext cx="360000" cy="360000"/>
            </a:xfrm>
            <a:prstGeom prst="cube">
              <a:avLst>
                <a:gd name="adj" fmla="val 25000"/>
              </a:avLst>
            </a:prstGeom>
            <a:solidFill>
              <a:srgbClr val="3B4395"/>
            </a:solidFill>
            <a:ln w="12700" cap="flat" cmpd="sng">
              <a:solidFill>
                <a:srgbClr val="31538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6" name="Google Shape;136;p3"/>
            <p:cNvSpPr/>
            <p:nvPr/>
          </p:nvSpPr>
          <p:spPr>
            <a:xfrm>
              <a:off x="4940584" y="4508903"/>
              <a:ext cx="360000" cy="360000"/>
            </a:xfrm>
            <a:prstGeom prst="cube">
              <a:avLst>
                <a:gd name="adj" fmla="val 25000"/>
              </a:avLst>
            </a:prstGeom>
            <a:solidFill>
              <a:srgbClr val="3B4395"/>
            </a:solidFill>
            <a:ln w="12700" cap="flat" cmpd="sng">
              <a:solidFill>
                <a:srgbClr val="31538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7" name="Google Shape;137;p3"/>
            <p:cNvSpPr/>
            <p:nvPr/>
          </p:nvSpPr>
          <p:spPr>
            <a:xfrm>
              <a:off x="5249041" y="4508227"/>
              <a:ext cx="360000" cy="360000"/>
            </a:xfrm>
            <a:prstGeom prst="cube">
              <a:avLst>
                <a:gd name="adj" fmla="val 25000"/>
              </a:avLst>
            </a:prstGeom>
            <a:solidFill>
              <a:srgbClr val="3B4395"/>
            </a:solidFill>
            <a:ln w="12700" cap="flat" cmpd="sng">
              <a:solidFill>
                <a:srgbClr val="31538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8" name="Google Shape;138;p3"/>
            <p:cNvSpPr/>
            <p:nvPr/>
          </p:nvSpPr>
          <p:spPr>
            <a:xfrm>
              <a:off x="3740019" y="4203624"/>
              <a:ext cx="360000" cy="360000"/>
            </a:xfrm>
            <a:prstGeom prst="cube">
              <a:avLst>
                <a:gd name="adj" fmla="val 25000"/>
              </a:avLst>
            </a:prstGeom>
            <a:solidFill>
              <a:srgbClr val="3B4395"/>
            </a:solidFill>
            <a:ln w="12700" cap="flat" cmpd="sng">
              <a:solidFill>
                <a:srgbClr val="31538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9" name="Google Shape;139;p3"/>
            <p:cNvSpPr/>
            <p:nvPr/>
          </p:nvSpPr>
          <p:spPr>
            <a:xfrm>
              <a:off x="4041209" y="4206129"/>
              <a:ext cx="360000" cy="360000"/>
            </a:xfrm>
            <a:prstGeom prst="cube">
              <a:avLst>
                <a:gd name="adj" fmla="val 25000"/>
              </a:avLst>
            </a:prstGeom>
            <a:solidFill>
              <a:srgbClr val="3B4395"/>
            </a:solidFill>
            <a:ln w="12700" cap="flat" cmpd="sng">
              <a:solidFill>
                <a:srgbClr val="31538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0" name="Google Shape;140;p3"/>
            <p:cNvSpPr/>
            <p:nvPr/>
          </p:nvSpPr>
          <p:spPr>
            <a:xfrm>
              <a:off x="4342266" y="4206129"/>
              <a:ext cx="360000" cy="360000"/>
            </a:xfrm>
            <a:prstGeom prst="cube">
              <a:avLst>
                <a:gd name="adj" fmla="val 25000"/>
              </a:avLst>
            </a:prstGeom>
            <a:solidFill>
              <a:srgbClr val="3B4395"/>
            </a:solidFill>
            <a:ln w="12700" cap="flat" cmpd="sng">
              <a:solidFill>
                <a:srgbClr val="31538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1" name="Google Shape;141;p3"/>
            <p:cNvSpPr/>
            <p:nvPr/>
          </p:nvSpPr>
          <p:spPr>
            <a:xfrm>
              <a:off x="4647995" y="4206129"/>
              <a:ext cx="360000" cy="360000"/>
            </a:xfrm>
            <a:prstGeom prst="cube">
              <a:avLst>
                <a:gd name="adj" fmla="val 25000"/>
              </a:avLst>
            </a:prstGeom>
            <a:solidFill>
              <a:srgbClr val="3B4395"/>
            </a:solidFill>
            <a:ln w="12700" cap="flat" cmpd="sng">
              <a:solidFill>
                <a:srgbClr val="31538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2" name="Google Shape;142;p3"/>
            <p:cNvSpPr/>
            <p:nvPr/>
          </p:nvSpPr>
          <p:spPr>
            <a:xfrm>
              <a:off x="4944817" y="4205564"/>
              <a:ext cx="360000" cy="360000"/>
            </a:xfrm>
            <a:prstGeom prst="cube">
              <a:avLst>
                <a:gd name="adj" fmla="val 25000"/>
              </a:avLst>
            </a:prstGeom>
            <a:solidFill>
              <a:srgbClr val="3B4395"/>
            </a:solidFill>
            <a:ln w="12700" cap="flat" cmpd="sng">
              <a:solidFill>
                <a:srgbClr val="31538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3" name="Google Shape;143;p3"/>
            <p:cNvSpPr/>
            <p:nvPr/>
          </p:nvSpPr>
          <p:spPr>
            <a:xfrm>
              <a:off x="5244130" y="4202838"/>
              <a:ext cx="360000" cy="360000"/>
            </a:xfrm>
            <a:prstGeom prst="cube">
              <a:avLst>
                <a:gd name="adj" fmla="val 25000"/>
              </a:avLst>
            </a:prstGeom>
            <a:solidFill>
              <a:srgbClr val="3B4395"/>
            </a:solidFill>
            <a:ln w="12700" cap="flat" cmpd="sng">
              <a:solidFill>
                <a:srgbClr val="31538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4" name="Google Shape;144;p3"/>
            <p:cNvSpPr/>
            <p:nvPr/>
          </p:nvSpPr>
          <p:spPr>
            <a:xfrm>
              <a:off x="3746380" y="3901437"/>
              <a:ext cx="360000" cy="360000"/>
            </a:xfrm>
            <a:prstGeom prst="cube">
              <a:avLst>
                <a:gd name="adj" fmla="val 25000"/>
              </a:avLst>
            </a:prstGeom>
            <a:solidFill>
              <a:srgbClr val="3B4395"/>
            </a:solidFill>
            <a:ln w="12700" cap="flat" cmpd="sng">
              <a:solidFill>
                <a:srgbClr val="31538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5" name="Google Shape;145;p3"/>
            <p:cNvSpPr/>
            <p:nvPr/>
          </p:nvSpPr>
          <p:spPr>
            <a:xfrm>
              <a:off x="4047570" y="3903942"/>
              <a:ext cx="360000" cy="360000"/>
            </a:xfrm>
            <a:prstGeom prst="cube">
              <a:avLst>
                <a:gd name="adj" fmla="val 25000"/>
              </a:avLst>
            </a:prstGeom>
            <a:solidFill>
              <a:srgbClr val="3B4395"/>
            </a:solidFill>
            <a:ln w="12700" cap="flat" cmpd="sng">
              <a:solidFill>
                <a:srgbClr val="31538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6" name="Google Shape;146;p3"/>
            <p:cNvSpPr/>
            <p:nvPr/>
          </p:nvSpPr>
          <p:spPr>
            <a:xfrm>
              <a:off x="4348627" y="3903942"/>
              <a:ext cx="360000" cy="360000"/>
            </a:xfrm>
            <a:prstGeom prst="cube">
              <a:avLst>
                <a:gd name="adj" fmla="val 25000"/>
              </a:avLst>
            </a:prstGeom>
            <a:solidFill>
              <a:srgbClr val="3B4395"/>
            </a:solidFill>
            <a:ln w="12700" cap="flat" cmpd="sng">
              <a:solidFill>
                <a:srgbClr val="31538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3"/>
            <p:cNvSpPr/>
            <p:nvPr/>
          </p:nvSpPr>
          <p:spPr>
            <a:xfrm>
              <a:off x="4654356" y="3903942"/>
              <a:ext cx="360000" cy="360000"/>
            </a:xfrm>
            <a:prstGeom prst="cube">
              <a:avLst>
                <a:gd name="adj" fmla="val 25000"/>
              </a:avLst>
            </a:prstGeom>
            <a:solidFill>
              <a:srgbClr val="3B4395"/>
            </a:solidFill>
            <a:ln w="12700" cap="flat" cmpd="sng">
              <a:solidFill>
                <a:srgbClr val="31538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3"/>
            <p:cNvSpPr/>
            <p:nvPr/>
          </p:nvSpPr>
          <p:spPr>
            <a:xfrm>
              <a:off x="4951178" y="3903377"/>
              <a:ext cx="360000" cy="360000"/>
            </a:xfrm>
            <a:prstGeom prst="cube">
              <a:avLst>
                <a:gd name="adj" fmla="val 25000"/>
              </a:avLst>
            </a:prstGeom>
            <a:solidFill>
              <a:srgbClr val="3B4395"/>
            </a:solidFill>
            <a:ln w="12700" cap="flat" cmpd="sng">
              <a:solidFill>
                <a:srgbClr val="31538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3"/>
            <p:cNvSpPr/>
            <p:nvPr/>
          </p:nvSpPr>
          <p:spPr>
            <a:xfrm>
              <a:off x="5254591" y="3902701"/>
              <a:ext cx="360000" cy="360000"/>
            </a:xfrm>
            <a:prstGeom prst="cube">
              <a:avLst>
                <a:gd name="adj" fmla="val 25000"/>
              </a:avLst>
            </a:prstGeom>
            <a:solidFill>
              <a:srgbClr val="3B4395"/>
            </a:solidFill>
            <a:ln w="12700" cap="flat" cmpd="sng">
              <a:solidFill>
                <a:srgbClr val="31538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3"/>
            <p:cNvSpPr/>
            <p:nvPr/>
          </p:nvSpPr>
          <p:spPr>
            <a:xfrm>
              <a:off x="3749632" y="3600930"/>
              <a:ext cx="360000" cy="360000"/>
            </a:xfrm>
            <a:prstGeom prst="cube">
              <a:avLst>
                <a:gd name="adj" fmla="val 25000"/>
              </a:avLst>
            </a:prstGeom>
            <a:solidFill>
              <a:srgbClr val="3B4395"/>
            </a:solidFill>
            <a:ln w="12700" cap="flat" cmpd="sng">
              <a:solidFill>
                <a:srgbClr val="31538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3"/>
            <p:cNvSpPr/>
            <p:nvPr/>
          </p:nvSpPr>
          <p:spPr>
            <a:xfrm>
              <a:off x="4050822" y="3599459"/>
              <a:ext cx="360000" cy="360000"/>
            </a:xfrm>
            <a:prstGeom prst="cube">
              <a:avLst>
                <a:gd name="adj" fmla="val 25000"/>
              </a:avLst>
            </a:prstGeom>
            <a:solidFill>
              <a:srgbClr val="3B4395"/>
            </a:solidFill>
            <a:ln w="12700" cap="flat" cmpd="sng">
              <a:solidFill>
                <a:srgbClr val="31538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2" name="Google Shape;152;p3"/>
            <p:cNvSpPr/>
            <p:nvPr/>
          </p:nvSpPr>
          <p:spPr>
            <a:xfrm>
              <a:off x="4351879" y="3599459"/>
              <a:ext cx="360000" cy="360000"/>
            </a:xfrm>
            <a:prstGeom prst="cube">
              <a:avLst>
                <a:gd name="adj" fmla="val 25000"/>
              </a:avLst>
            </a:prstGeom>
            <a:solidFill>
              <a:srgbClr val="3B4395"/>
            </a:solidFill>
            <a:ln w="12700" cap="flat" cmpd="sng">
              <a:solidFill>
                <a:srgbClr val="31538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3" name="Google Shape;153;p3"/>
            <p:cNvSpPr/>
            <p:nvPr/>
          </p:nvSpPr>
          <p:spPr>
            <a:xfrm>
              <a:off x="4651458" y="3599459"/>
              <a:ext cx="360000" cy="360000"/>
            </a:xfrm>
            <a:prstGeom prst="cube">
              <a:avLst>
                <a:gd name="adj" fmla="val 25000"/>
              </a:avLst>
            </a:prstGeom>
            <a:solidFill>
              <a:srgbClr val="3B4395"/>
            </a:solidFill>
            <a:ln w="12700" cap="flat" cmpd="sng">
              <a:solidFill>
                <a:srgbClr val="31538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4" name="Google Shape;154;p3"/>
            <p:cNvSpPr/>
            <p:nvPr/>
          </p:nvSpPr>
          <p:spPr>
            <a:xfrm>
              <a:off x="4953615" y="3607927"/>
              <a:ext cx="360000" cy="360000"/>
            </a:xfrm>
            <a:prstGeom prst="cube">
              <a:avLst>
                <a:gd name="adj" fmla="val 25000"/>
              </a:avLst>
            </a:prstGeom>
            <a:solidFill>
              <a:srgbClr val="3B4395"/>
            </a:solidFill>
            <a:ln w="12700" cap="flat" cmpd="sng">
              <a:solidFill>
                <a:srgbClr val="31538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5" name="Google Shape;155;p3"/>
            <p:cNvSpPr/>
            <p:nvPr/>
          </p:nvSpPr>
          <p:spPr>
            <a:xfrm>
              <a:off x="5253743" y="3596168"/>
              <a:ext cx="360000" cy="360000"/>
            </a:xfrm>
            <a:prstGeom prst="cube">
              <a:avLst>
                <a:gd name="adj" fmla="val 25000"/>
              </a:avLst>
            </a:prstGeom>
            <a:solidFill>
              <a:srgbClr val="3B4395"/>
            </a:solidFill>
            <a:ln w="12700" cap="flat" cmpd="sng">
              <a:solidFill>
                <a:srgbClr val="31538F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7" name="Google Shape;157;p3"/>
          <p:cNvSpPr txBox="1"/>
          <p:nvPr/>
        </p:nvSpPr>
        <p:spPr>
          <a:xfrm>
            <a:off x="5360751" y="3157039"/>
            <a:ext cx="1988582" cy="5539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dirty="0">
                <a:solidFill>
                  <a:srgbClr val="3B4395"/>
                </a:solidFill>
                <a:latin typeface="Calibri"/>
                <a:ea typeface="Calibri"/>
                <a:cs typeface="Calibri"/>
                <a:sym typeface="Calibri"/>
              </a:rPr>
              <a:t>Ceramic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dirty="0">
                <a:solidFill>
                  <a:srgbClr val="3B4395"/>
                </a:solidFill>
                <a:latin typeface="Calibri"/>
                <a:ea typeface="Calibri"/>
                <a:cs typeface="Calibri"/>
                <a:sym typeface="Calibri"/>
              </a:rPr>
              <a:t>(Save real estate)</a:t>
            </a:r>
            <a:endParaRPr sz="1500" dirty="0">
              <a:solidFill>
                <a:srgbClr val="3B439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3"/>
          <p:cNvSpPr/>
          <p:nvPr/>
        </p:nvSpPr>
        <p:spPr>
          <a:xfrm>
            <a:off x="4167112" y="3705516"/>
            <a:ext cx="818700" cy="839400"/>
          </a:xfrm>
          <a:prstGeom prst="can">
            <a:avLst>
              <a:gd name="adj" fmla="val 25000"/>
            </a:avLst>
          </a:prstGeom>
          <a:solidFill>
            <a:schemeClr val="lt1"/>
          </a:solidFill>
          <a:ln w="12700" cap="flat" cmpd="sng">
            <a:solidFill>
              <a:srgbClr val="AAC81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3"/>
          <p:cNvSpPr txBox="1"/>
          <p:nvPr/>
        </p:nvSpPr>
        <p:spPr>
          <a:xfrm>
            <a:off x="3962951" y="3933711"/>
            <a:ext cx="1238700" cy="323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rgbClr val="3B4395"/>
                </a:solidFill>
                <a:latin typeface="Calibri"/>
                <a:ea typeface="Calibri"/>
                <a:cs typeface="Calibri"/>
                <a:sym typeface="Calibri"/>
              </a:rPr>
              <a:t>Oracle</a:t>
            </a:r>
            <a:endParaRPr sz="1500" dirty="0">
              <a:solidFill>
                <a:srgbClr val="3B439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3"/>
          <p:cNvSpPr/>
          <p:nvPr/>
        </p:nvSpPr>
        <p:spPr>
          <a:xfrm>
            <a:off x="2016569" y="3739696"/>
            <a:ext cx="1368300" cy="786900"/>
          </a:xfrm>
          <a:prstGeom prst="rect">
            <a:avLst/>
          </a:prstGeom>
          <a:noFill/>
          <a:ln w="12700" cap="flat" cmpd="sng">
            <a:solidFill>
              <a:srgbClr val="31538F"/>
            </a:solidFill>
            <a:prstDash val="lgDash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3"/>
          <p:cNvSpPr txBox="1"/>
          <p:nvPr/>
        </p:nvSpPr>
        <p:spPr>
          <a:xfrm>
            <a:off x="1334378" y="3507184"/>
            <a:ext cx="952213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address</a:t>
            </a:r>
            <a:endParaRPr sz="800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4" name="Google Shape;164;p3"/>
          <p:cNvCxnSpPr/>
          <p:nvPr/>
        </p:nvCxnSpPr>
        <p:spPr>
          <a:xfrm>
            <a:off x="3555626" y="3984912"/>
            <a:ext cx="522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miter lim="800000"/>
            <a:headEnd type="none" w="sm" len="sm"/>
            <a:tailEnd type="stealth" w="med" len="med"/>
          </a:ln>
        </p:spPr>
      </p:cxnSp>
      <p:sp>
        <p:nvSpPr>
          <p:cNvPr id="165" name="Google Shape;165;p3"/>
          <p:cNvSpPr txBox="1"/>
          <p:nvPr/>
        </p:nvSpPr>
        <p:spPr>
          <a:xfrm>
            <a:off x="2099705" y="3142950"/>
            <a:ext cx="1238700" cy="5539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dirty="0" err="1">
                <a:solidFill>
                  <a:srgbClr val="3B4395"/>
                </a:solidFill>
                <a:latin typeface="Calibri"/>
                <a:ea typeface="Calibri"/>
                <a:cs typeface="Calibri"/>
                <a:sym typeface="Calibri"/>
              </a:rPr>
              <a:t>SmartZip</a:t>
            </a:r>
            <a:r>
              <a:rPr lang="en-GB" sz="1500" dirty="0">
                <a:solidFill>
                  <a:srgbClr val="3B4395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500" dirty="0">
                <a:solidFill>
                  <a:srgbClr val="3B439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500" dirty="0">
                <a:solidFill>
                  <a:srgbClr val="3B4395"/>
                </a:solidFill>
                <a:latin typeface="Calibri"/>
                <a:ea typeface="Calibri"/>
                <a:cs typeface="Calibri"/>
                <a:sym typeface="Calibri"/>
              </a:rPr>
              <a:t>(data feed)</a:t>
            </a:r>
            <a:endParaRPr sz="1500" dirty="0">
              <a:solidFill>
                <a:srgbClr val="3B439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7" name="Google Shape;167;p3"/>
          <p:cNvCxnSpPr/>
          <p:nvPr/>
        </p:nvCxnSpPr>
        <p:spPr>
          <a:xfrm rot="10800000">
            <a:off x="5101787" y="3994386"/>
            <a:ext cx="522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miter lim="800000"/>
            <a:headEnd type="none" w="sm" len="sm"/>
            <a:tailEnd type="stealth" w="med" len="med"/>
          </a:ln>
        </p:spPr>
      </p:cxnSp>
      <p:cxnSp>
        <p:nvCxnSpPr>
          <p:cNvPr id="168" name="Google Shape;168;p3"/>
          <p:cNvCxnSpPr/>
          <p:nvPr/>
        </p:nvCxnSpPr>
        <p:spPr>
          <a:xfrm rot="10800000">
            <a:off x="3534874" y="4289161"/>
            <a:ext cx="522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miter lim="800000"/>
            <a:headEnd type="none" w="sm" len="sm"/>
            <a:tailEnd type="stealth" w="med" len="med"/>
          </a:ln>
        </p:spPr>
      </p:cxnSp>
      <p:cxnSp>
        <p:nvCxnSpPr>
          <p:cNvPr id="171" name="Google Shape;171;p3"/>
          <p:cNvCxnSpPr/>
          <p:nvPr/>
        </p:nvCxnSpPr>
        <p:spPr>
          <a:xfrm>
            <a:off x="5126104" y="4318916"/>
            <a:ext cx="5220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miter lim="800000"/>
            <a:headEnd type="none" w="sm" len="sm"/>
            <a:tailEnd type="stealth" w="med" len="med"/>
          </a:ln>
        </p:spPr>
      </p:cxnSp>
      <p:sp>
        <p:nvSpPr>
          <p:cNvPr id="173" name="Google Shape;173;p3"/>
          <p:cNvSpPr txBox="1"/>
          <p:nvPr/>
        </p:nvSpPr>
        <p:spPr>
          <a:xfrm>
            <a:off x="628650" y="1443841"/>
            <a:ext cx="7886700" cy="8771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just"/>
            <a:r>
              <a:rPr lang="en-GB" sz="17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user want to find a real estate by giving the location of he/she want. Thanks to </a:t>
            </a:r>
            <a:r>
              <a:rPr lang="en-GB" sz="17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smartzip</a:t>
            </a:r>
            <a:r>
              <a:rPr lang="en-GB" sz="17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users can enter city and location information and </a:t>
            </a:r>
            <a:r>
              <a:rPr lang="en-GB" sz="17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smartzip</a:t>
            </a:r>
            <a:r>
              <a:rPr lang="en-GB" sz="17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returns a suggestion of the property along with the current price.  </a:t>
            </a:r>
            <a:endParaRPr dirty="0"/>
          </a:p>
        </p:txBody>
      </p:sp>
      <p:sp>
        <p:nvSpPr>
          <p:cNvPr id="174" name="Google Shape;174;p3"/>
          <p:cNvSpPr txBox="1"/>
          <p:nvPr/>
        </p:nvSpPr>
        <p:spPr>
          <a:xfrm>
            <a:off x="628650" y="5224092"/>
            <a:ext cx="7886700" cy="615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just"/>
            <a:r>
              <a:rPr lang="en-GB" sz="17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Users can store real estate information they find (including price, location, date) thanks to decentralized technologies for authentication and data storage (Ceramic).</a:t>
            </a:r>
            <a:endParaRPr dirty="0"/>
          </a:p>
        </p:txBody>
      </p:sp>
      <p:sp>
        <p:nvSpPr>
          <p:cNvPr id="175" name="Google Shape;175;p3"/>
          <p:cNvSpPr txBox="1"/>
          <p:nvPr/>
        </p:nvSpPr>
        <p:spPr>
          <a:xfrm>
            <a:off x="3555626" y="2769404"/>
            <a:ext cx="2106373" cy="323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dirty="0" err="1">
                <a:solidFill>
                  <a:srgbClr val="3B4395"/>
                </a:solidFill>
                <a:latin typeface="Calibri"/>
                <a:ea typeface="Calibri"/>
                <a:cs typeface="Calibri"/>
                <a:sym typeface="Calibri"/>
              </a:rPr>
              <a:t>Chainlink</a:t>
            </a:r>
            <a:endParaRPr sz="1500" dirty="0">
              <a:solidFill>
                <a:srgbClr val="3B439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6" name="Google Shape;176;p3"/>
          <p:cNvCxnSpPr/>
          <p:nvPr/>
        </p:nvCxnSpPr>
        <p:spPr>
          <a:xfrm rot="10800000">
            <a:off x="4576462" y="3214094"/>
            <a:ext cx="0" cy="39600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miter lim="800000"/>
            <a:headEnd type="none" w="sm" len="sm"/>
            <a:tailEnd type="stealth" w="med" len="med"/>
          </a:ln>
        </p:spPr>
      </p:cxnSp>
      <p:sp>
        <p:nvSpPr>
          <p:cNvPr id="74" name="Google Shape;163;p3">
            <a:extLst>
              <a:ext uri="{FF2B5EF4-FFF2-40B4-BE49-F238E27FC236}">
                <a16:creationId xmlns:a16="http://schemas.microsoft.com/office/drawing/2014/main" id="{9397A7C3-716A-D14E-9D8D-E94E3DE0872E}"/>
              </a:ext>
            </a:extLst>
          </p:cNvPr>
          <p:cNvSpPr txBox="1"/>
          <p:nvPr/>
        </p:nvSpPr>
        <p:spPr>
          <a:xfrm>
            <a:off x="1307272" y="4539080"/>
            <a:ext cx="952213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street</a:t>
            </a:r>
            <a:endParaRPr sz="800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163;p3">
            <a:extLst>
              <a:ext uri="{FF2B5EF4-FFF2-40B4-BE49-F238E27FC236}">
                <a16:creationId xmlns:a16="http://schemas.microsoft.com/office/drawing/2014/main" id="{0AE6AE30-A827-314A-B50E-5BE2E829DDC1}"/>
              </a:ext>
            </a:extLst>
          </p:cNvPr>
          <p:cNvSpPr txBox="1"/>
          <p:nvPr/>
        </p:nvSpPr>
        <p:spPr>
          <a:xfrm>
            <a:off x="2949451" y="3452416"/>
            <a:ext cx="952213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city</a:t>
            </a:r>
            <a:endParaRPr sz="800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163;p3">
            <a:extLst>
              <a:ext uri="{FF2B5EF4-FFF2-40B4-BE49-F238E27FC236}">
                <a16:creationId xmlns:a16="http://schemas.microsoft.com/office/drawing/2014/main" id="{4BC4EC0E-B023-1E4F-826B-9923DA430D81}"/>
              </a:ext>
            </a:extLst>
          </p:cNvPr>
          <p:cNvSpPr txBox="1"/>
          <p:nvPr/>
        </p:nvSpPr>
        <p:spPr>
          <a:xfrm>
            <a:off x="2944998" y="4590167"/>
            <a:ext cx="952213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price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GB" dirty="0" err="1"/>
              <a:t>SmartZip</a:t>
            </a:r>
            <a:r>
              <a:rPr lang="en-GB" dirty="0"/>
              <a:t> feature</a:t>
            </a:r>
            <a:endParaRPr dirty="0"/>
          </a:p>
        </p:txBody>
      </p:sp>
      <p:sp>
        <p:nvSpPr>
          <p:cNvPr id="188" name="Google Shape;188;p5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  <a:pattFill prst="pct5">
            <a:fgClr>
              <a:schemeClr val="lt1"/>
            </a:fgClr>
            <a:bgClr>
              <a:schemeClr val="bg1"/>
            </a:bgClr>
          </a:pattFill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sz="1800" dirty="0" err="1"/>
              <a:t>SmartZip</a:t>
            </a:r>
            <a:r>
              <a:rPr lang="en-US" sz="1800" dirty="0"/>
              <a:t> is the leader of predictive analytics in real estate. With </a:t>
            </a:r>
            <a:r>
              <a:rPr lang="en-US" sz="1800" dirty="0" err="1"/>
              <a:t>SmartZip</a:t>
            </a:r>
            <a:r>
              <a:rPr lang="en-US" sz="1800" dirty="0"/>
              <a:t>, developers can easily integrate the most comprehensive real estate database into their applications including property values, rental rates, likelihood of selling and much more.</a:t>
            </a:r>
          </a:p>
          <a:p>
            <a:pPr marL="114300" indent="0">
              <a:buNone/>
            </a:pPr>
            <a:endParaRPr lang="en-US" sz="1800" dirty="0"/>
          </a:p>
          <a:p>
            <a:r>
              <a:rPr lang="en-US" sz="1800" dirty="0" err="1"/>
              <a:t>SmartZip’s</a:t>
            </a:r>
            <a:r>
              <a:rPr lang="en-US" sz="1800" dirty="0"/>
              <a:t> proprietary predictive analytics model aggregates data from 24 sources and contains over 1 billion data points on residential real estate, including up-to-date market valuations, rental incomes and other key data points. Initially, this oracle will return a given home's value calculated by </a:t>
            </a:r>
            <a:r>
              <a:rPr lang="en-US" sz="1800" dirty="0" err="1"/>
              <a:t>SmartZip's</a:t>
            </a:r>
            <a:r>
              <a:rPr lang="en-US" sz="1800" dirty="0"/>
              <a:t> patented Automated Valuation Model (AVM).</a:t>
            </a:r>
            <a:br>
              <a:rPr lang="en-US" sz="1800" dirty="0"/>
            </a:br>
            <a:endParaRPr lang="en-US" sz="1800" dirty="0"/>
          </a:p>
          <a:p>
            <a:pPr marL="114300" indent="0">
              <a:buNone/>
            </a:pPr>
            <a:r>
              <a:rPr lang="en-US" sz="1800" dirty="0"/>
              <a:t>Reference: https://</a:t>
            </a:r>
            <a:r>
              <a:rPr lang="en-US" sz="1800" dirty="0" err="1"/>
              <a:t>market.link</a:t>
            </a:r>
            <a:r>
              <a:rPr lang="en-US" sz="1800" dirty="0"/>
              <a:t>/data-providers/7c5a6a8c-5008-4f5f-8914-6264f45bff61/integrations</a:t>
            </a:r>
            <a:br>
              <a:rPr lang="en-US" sz="1800" dirty="0"/>
            </a:br>
            <a:endParaRPr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"/>
          <p:cNvSpPr txBox="1"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GB" dirty="0"/>
              <a:t>Ceramic feature</a:t>
            </a:r>
            <a:endParaRPr dirty="0"/>
          </a:p>
        </p:txBody>
      </p:sp>
      <p:sp>
        <p:nvSpPr>
          <p:cNvPr id="188" name="Google Shape;188;p5"/>
          <p:cNvSpPr txBox="1"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  <a:pattFill prst="pct5">
            <a:fgClr>
              <a:schemeClr val="lt1"/>
            </a:fgClr>
            <a:bgClr>
              <a:schemeClr val="bg1"/>
            </a:bgClr>
          </a:pattFill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r>
              <a:rPr lang="en-US" sz="1800" dirty="0"/>
              <a:t>Ceramic is a decentralized, open source platform for creating, hosting, and sharing streams of data. With Ceramic's permissionless data streaming network, you can store streams of information and ever-changing files directly on the decentralized web – and share updates with anyone in the world. This page describes the most important features of the protocol.</a:t>
            </a:r>
          </a:p>
          <a:p>
            <a:endParaRPr lang="en-US" sz="1800" dirty="0"/>
          </a:p>
          <a:p>
            <a:pPr marL="114300" indent="0">
              <a:buNone/>
            </a:pPr>
            <a:r>
              <a:rPr lang="en-US" sz="1800" dirty="0"/>
              <a:t>Reference: https://</a:t>
            </a:r>
            <a:r>
              <a:rPr lang="en-US" sz="1800" dirty="0" err="1"/>
              <a:t>developers.ceramic.network</a:t>
            </a:r>
            <a:r>
              <a:rPr lang="en-US" sz="1800" dirty="0"/>
              <a:t>/learn/features/</a:t>
            </a:r>
            <a:endParaRPr sz="1800" dirty="0"/>
          </a:p>
        </p:txBody>
      </p:sp>
    </p:spTree>
    <p:extLst>
      <p:ext uri="{BB962C8B-B14F-4D97-AF65-F5344CB8AC3E}">
        <p14:creationId xmlns:p14="http://schemas.microsoft.com/office/powerpoint/2010/main" val="31979794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307</Words>
  <Application>Microsoft Macintosh PowerPoint</Application>
  <PresentationFormat>On-screen Show (4:3)</PresentationFormat>
  <Paragraphs>25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Storyline – Participants (roles)</vt:lpstr>
      <vt:lpstr>Underlying Concept of Smart Real Estate</vt:lpstr>
      <vt:lpstr>SmartZip feature</vt:lpstr>
      <vt:lpstr>Ceramic feature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Storyline – Participants (roles)</dc:title>
  <dc:creator>Vasileios Panagiotidis</dc:creator>
  <cp:lastModifiedBy>Anh. Nguyễn Thế (18)</cp:lastModifiedBy>
  <cp:revision>4</cp:revision>
  <dcterms:created xsi:type="dcterms:W3CDTF">2021-11-09T15:26:07Z</dcterms:created>
  <dcterms:modified xsi:type="dcterms:W3CDTF">2021-11-11T09:59:23Z</dcterms:modified>
</cp:coreProperties>
</file>